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8a663374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8a663374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2918e772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2918e772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8a66337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8a66337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2918e77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2918e77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2918e772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2918e772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c26c303d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c26c303d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c26c303d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c26c303d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c26c303d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c26c303d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c26c303d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c26c303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c26c303d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c26c303d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c26c303d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c26c303d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c26c303d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c26c303d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2918e772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2918e772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FCE5CD"/>
                </a:solidFill>
                <a:latin typeface="Times New Roman"/>
                <a:ea typeface="Times New Roman"/>
                <a:cs typeface="Times New Roman"/>
                <a:sym typeface="Times New Roman"/>
              </a:rPr>
              <a:t>Shoreline Hazards and Habitat Loss- MD</a:t>
            </a:r>
            <a:endParaRPr>
              <a:solidFill>
                <a:srgbClr val="FCE5CD"/>
              </a:solidFill>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FCE5CD"/>
                </a:solidFill>
                <a:latin typeface="Times New Roman"/>
                <a:ea typeface="Times New Roman"/>
                <a:cs typeface="Times New Roman"/>
                <a:sym typeface="Times New Roman"/>
              </a:rPr>
              <a:t>Natalia Solomon</a:t>
            </a:r>
            <a:endParaRPr>
              <a:solidFill>
                <a:srgbClr val="FCE5CD"/>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8761D"/>
                </a:solidFill>
                <a:latin typeface="Times New Roman"/>
                <a:ea typeface="Times New Roman"/>
                <a:cs typeface="Times New Roman"/>
                <a:sym typeface="Times New Roman"/>
              </a:rPr>
              <a:t>Background</a:t>
            </a:r>
            <a:r>
              <a:rPr lang="en">
                <a:solidFill>
                  <a:srgbClr val="FCE5CD"/>
                </a:solidFill>
                <a:latin typeface="Times New Roman"/>
                <a:ea typeface="Times New Roman"/>
                <a:cs typeface="Times New Roman"/>
                <a:sym typeface="Times New Roman"/>
              </a:rPr>
              <a:t> Information</a:t>
            </a:r>
            <a:endParaRPr>
              <a:solidFill>
                <a:srgbClr val="FCE5CD"/>
              </a:solidFill>
              <a:latin typeface="Times New Roman"/>
              <a:ea typeface="Times New Roman"/>
              <a:cs typeface="Times New Roman"/>
              <a:sym typeface="Times New Roman"/>
            </a:endParaRPr>
          </a:p>
        </p:txBody>
      </p:sp>
      <p:sp>
        <p:nvSpPr>
          <p:cNvPr id="61" name="Google Shape;61;p14"/>
          <p:cNvSpPr txBox="1"/>
          <p:nvPr>
            <p:ph idx="1" type="body"/>
          </p:nvPr>
        </p:nvSpPr>
        <p:spPr>
          <a:xfrm>
            <a:off x="353175" y="1162625"/>
            <a:ext cx="4817400" cy="3416400"/>
          </a:xfrm>
          <a:prstGeom prst="rect">
            <a:avLst/>
          </a:prstGeom>
          <a:solidFill>
            <a:srgbClr val="56638E"/>
          </a:solidFill>
        </p:spPr>
        <p:txBody>
          <a:bodyPr anchorCtr="0" anchor="t" bIns="91425" lIns="91425" spcFirstLastPara="1" rIns="91425" wrap="square" tIns="91425">
            <a:normAutofit/>
          </a:bodyPr>
          <a:lstStyle/>
          <a:p>
            <a:pPr indent="0" lvl="0" marL="0" rtl="0" algn="ctr">
              <a:spcBef>
                <a:spcPts val="0"/>
              </a:spcBef>
              <a:spcAft>
                <a:spcPts val="0"/>
              </a:spcAft>
              <a:buNone/>
            </a:pPr>
            <a:r>
              <a:rPr lang="en" sz="1400">
                <a:solidFill>
                  <a:srgbClr val="FCE5CD"/>
                </a:solidFill>
                <a:latin typeface="Times New Roman"/>
                <a:ea typeface="Times New Roman"/>
                <a:cs typeface="Times New Roman"/>
                <a:sym typeface="Times New Roman"/>
              </a:rPr>
              <a:t>What does the future look like when our natural coastal protection systems begin to weaken?</a:t>
            </a:r>
            <a:endParaRPr sz="14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FCE5CD"/>
              </a:solidFill>
              <a:latin typeface="Times New Roman"/>
              <a:ea typeface="Times New Roman"/>
              <a:cs typeface="Times New Roman"/>
              <a:sym typeface="Times New Roman"/>
            </a:endParaRPr>
          </a:p>
          <a:p>
            <a:pPr indent="-317500" lvl="0" marL="457200" rtl="0" algn="l">
              <a:spcBef>
                <a:spcPts val="0"/>
              </a:spcBef>
              <a:spcAft>
                <a:spcPts val="0"/>
              </a:spcAft>
              <a:buClr>
                <a:srgbClr val="FCE5CD"/>
              </a:buClr>
              <a:buSzPts val="1400"/>
              <a:buFont typeface="Times New Roman"/>
              <a:buChar char="●"/>
            </a:pPr>
            <a:r>
              <a:rPr lang="en" sz="1400">
                <a:solidFill>
                  <a:srgbClr val="FCE5CD"/>
                </a:solidFill>
                <a:latin typeface="Times New Roman"/>
                <a:ea typeface="Times New Roman"/>
                <a:cs typeface="Times New Roman"/>
                <a:sym typeface="Times New Roman"/>
              </a:rPr>
              <a:t>Coastal habitats include marshes, </a:t>
            </a:r>
            <a:r>
              <a:rPr lang="en" sz="1400">
                <a:solidFill>
                  <a:srgbClr val="FCE5CD"/>
                </a:solidFill>
                <a:latin typeface="Times New Roman"/>
                <a:ea typeface="Times New Roman"/>
                <a:cs typeface="Times New Roman"/>
                <a:sym typeface="Times New Roman"/>
              </a:rPr>
              <a:t>oyster reefs</a:t>
            </a:r>
            <a:r>
              <a:rPr lang="en" sz="1400">
                <a:solidFill>
                  <a:srgbClr val="FCE5CD"/>
                </a:solidFill>
                <a:latin typeface="Times New Roman"/>
                <a:ea typeface="Times New Roman"/>
                <a:cs typeface="Times New Roman"/>
                <a:sym typeface="Times New Roman"/>
              </a:rPr>
              <a:t>, dunes, forests, and underwater grass</a:t>
            </a:r>
            <a:endParaRPr sz="1400">
              <a:solidFill>
                <a:srgbClr val="FCE5CD"/>
              </a:solidFill>
              <a:latin typeface="Times New Roman"/>
              <a:ea typeface="Times New Roman"/>
              <a:cs typeface="Times New Roman"/>
              <a:sym typeface="Times New Roman"/>
            </a:endParaRPr>
          </a:p>
          <a:p>
            <a:pPr indent="-317500" lvl="0" marL="457200" rtl="0" algn="l">
              <a:spcBef>
                <a:spcPts val="0"/>
              </a:spcBef>
              <a:spcAft>
                <a:spcPts val="0"/>
              </a:spcAft>
              <a:buClr>
                <a:srgbClr val="FCE5CD"/>
              </a:buClr>
              <a:buSzPts val="1400"/>
              <a:buFont typeface="Times New Roman"/>
              <a:buChar char="●"/>
            </a:pPr>
            <a:r>
              <a:rPr lang="en" sz="1400">
                <a:solidFill>
                  <a:srgbClr val="FCE5CD"/>
                </a:solidFill>
                <a:latin typeface="Times New Roman"/>
                <a:ea typeface="Times New Roman"/>
                <a:cs typeface="Times New Roman"/>
                <a:sym typeface="Times New Roman"/>
              </a:rPr>
              <a:t>Where land meets water, coastal habitats support ecosystems and nearby communities</a:t>
            </a:r>
            <a:endParaRPr sz="1400">
              <a:solidFill>
                <a:srgbClr val="FCE5CD"/>
              </a:solidFill>
              <a:latin typeface="Times New Roman"/>
              <a:ea typeface="Times New Roman"/>
              <a:cs typeface="Times New Roman"/>
              <a:sym typeface="Times New Roman"/>
            </a:endParaRPr>
          </a:p>
          <a:p>
            <a:pPr indent="-317500" lvl="0" marL="457200" rtl="0" algn="l">
              <a:spcBef>
                <a:spcPts val="0"/>
              </a:spcBef>
              <a:spcAft>
                <a:spcPts val="0"/>
              </a:spcAft>
              <a:buClr>
                <a:srgbClr val="FCE5CD"/>
              </a:buClr>
              <a:buSzPts val="1400"/>
              <a:buFont typeface="Times New Roman"/>
              <a:buChar char="●"/>
            </a:pPr>
            <a:r>
              <a:rPr lang="en" sz="1400">
                <a:solidFill>
                  <a:srgbClr val="FCE5CD"/>
                </a:solidFill>
                <a:latin typeface="Times New Roman"/>
                <a:ea typeface="Times New Roman"/>
                <a:cs typeface="Times New Roman"/>
                <a:sym typeface="Times New Roman"/>
              </a:rPr>
              <a:t>Coastal habitats are constantly changing</a:t>
            </a:r>
            <a:endParaRPr sz="14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FCE5CD"/>
              </a:solidFill>
              <a:latin typeface="Times New Roman"/>
              <a:ea typeface="Times New Roman"/>
              <a:cs typeface="Times New Roman"/>
              <a:sym typeface="Times New Roman"/>
            </a:endParaRPr>
          </a:p>
          <a:p>
            <a:pPr indent="-317500" lvl="0" marL="457200" rtl="0" algn="l">
              <a:spcBef>
                <a:spcPts val="0"/>
              </a:spcBef>
              <a:spcAft>
                <a:spcPts val="0"/>
              </a:spcAft>
              <a:buClr>
                <a:srgbClr val="FCE5CD"/>
              </a:buClr>
              <a:buSzPts val="1400"/>
              <a:buFont typeface="Times New Roman"/>
              <a:buChar char="●"/>
            </a:pPr>
            <a:r>
              <a:rPr lang="en" sz="1400">
                <a:solidFill>
                  <a:srgbClr val="FCE5CD"/>
                </a:solidFill>
                <a:latin typeface="Times New Roman"/>
                <a:ea typeface="Times New Roman"/>
                <a:cs typeface="Times New Roman"/>
                <a:sym typeface="Times New Roman"/>
              </a:rPr>
              <a:t>Coastal hazards include geomorphology, elevation, erosion, sea level rising, waves, and storm surges</a:t>
            </a:r>
            <a:endParaRPr sz="14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FCE5CD"/>
              </a:solidFill>
              <a:latin typeface="Times New Roman"/>
              <a:ea typeface="Times New Roman"/>
              <a:cs typeface="Times New Roman"/>
              <a:sym typeface="Times New Roman"/>
            </a:endParaRPr>
          </a:p>
        </p:txBody>
      </p:sp>
      <p:pic>
        <p:nvPicPr>
          <p:cNvPr id="62" name="Google Shape;62;p14"/>
          <p:cNvPicPr preferRelativeResize="0"/>
          <p:nvPr/>
        </p:nvPicPr>
        <p:blipFill>
          <a:blip r:embed="rId3">
            <a:alphaModFix/>
          </a:blip>
          <a:stretch>
            <a:fillRect/>
          </a:stretch>
        </p:blipFill>
        <p:spPr>
          <a:xfrm>
            <a:off x="5277675" y="1347325"/>
            <a:ext cx="3668625" cy="24488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Goals and Tools</a:t>
            </a:r>
            <a:endParaRPr>
              <a:solidFill>
                <a:srgbClr val="FCE5CD"/>
              </a:solidFill>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4478700" cy="1337700"/>
          </a:xfrm>
          <a:prstGeom prst="rect">
            <a:avLst/>
          </a:prstGeom>
          <a:solidFill>
            <a:srgbClr val="56638E"/>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FCE5CD"/>
                </a:solidFill>
                <a:latin typeface="Times New Roman"/>
                <a:ea typeface="Times New Roman"/>
                <a:cs typeface="Times New Roman"/>
                <a:sym typeface="Times New Roman"/>
              </a:rPr>
              <a:t>We have seen through real world examples about how coastal habitats can protect communities, but what areas need the most protection? Do certain habitats provide protection to certain areas? How does the future of these habitats look? My goal is to tell a story about the benefits and risks of our coastal habitats in Maryland.</a:t>
            </a:r>
            <a:endParaRPr sz="1200">
              <a:solidFill>
                <a:srgbClr val="FCE5CD"/>
              </a:solidFill>
              <a:latin typeface="Times New Roman"/>
              <a:ea typeface="Times New Roman"/>
              <a:cs typeface="Times New Roman"/>
              <a:sym typeface="Times New Roman"/>
            </a:endParaRPr>
          </a:p>
        </p:txBody>
      </p:sp>
      <p:sp>
        <p:nvSpPr>
          <p:cNvPr id="69" name="Google Shape;69;p15"/>
          <p:cNvSpPr txBox="1"/>
          <p:nvPr/>
        </p:nvSpPr>
        <p:spPr>
          <a:xfrm>
            <a:off x="311825" y="2988300"/>
            <a:ext cx="4478700" cy="978000"/>
          </a:xfrm>
          <a:prstGeom prst="rect">
            <a:avLst/>
          </a:prstGeom>
          <a:solidFill>
            <a:srgbClr val="56638E"/>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CE5CD"/>
                </a:solidFill>
                <a:latin typeface="Times New Roman"/>
                <a:ea typeface="Times New Roman"/>
                <a:cs typeface="Times New Roman"/>
                <a:sym typeface="Times New Roman"/>
              </a:rPr>
              <a:t>To answer my questions, I will be </a:t>
            </a:r>
            <a:r>
              <a:rPr lang="en" sz="1200">
                <a:solidFill>
                  <a:srgbClr val="FCE5CD"/>
                </a:solidFill>
                <a:latin typeface="Times New Roman"/>
                <a:ea typeface="Times New Roman"/>
                <a:cs typeface="Times New Roman"/>
                <a:sym typeface="Times New Roman"/>
              </a:rPr>
              <a:t>visualizing</a:t>
            </a:r>
            <a:r>
              <a:rPr lang="en" sz="1200">
                <a:solidFill>
                  <a:srgbClr val="FCE5CD"/>
                </a:solidFill>
                <a:latin typeface="Times New Roman"/>
                <a:ea typeface="Times New Roman"/>
                <a:cs typeface="Times New Roman"/>
                <a:sym typeface="Times New Roman"/>
              </a:rPr>
              <a:t> my data using Google Colab. With the help of other tools such as R studio and Tableau, I am able to get a good idea of how my data looks before refining visualizations for presenting.</a:t>
            </a:r>
            <a:endParaRPr sz="1200">
              <a:solidFill>
                <a:srgbClr val="FCE5CD"/>
              </a:solidFill>
              <a:latin typeface="Times New Roman"/>
              <a:ea typeface="Times New Roman"/>
              <a:cs typeface="Times New Roman"/>
              <a:sym typeface="Times New Roman"/>
            </a:endParaRPr>
          </a:p>
        </p:txBody>
      </p:sp>
      <p:pic>
        <p:nvPicPr>
          <p:cNvPr id="70" name="Google Shape;70;p15" title="image-removebg-preview-2.png"/>
          <p:cNvPicPr preferRelativeResize="0"/>
          <p:nvPr/>
        </p:nvPicPr>
        <p:blipFill>
          <a:blip r:embed="rId3">
            <a:alphaModFix/>
          </a:blip>
          <a:stretch>
            <a:fillRect/>
          </a:stretch>
        </p:blipFill>
        <p:spPr>
          <a:xfrm>
            <a:off x="5395700" y="1804000"/>
            <a:ext cx="2828925" cy="1619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Datasets</a:t>
            </a:r>
            <a:endParaRPr>
              <a:solidFill>
                <a:srgbClr val="FCE5CD"/>
              </a:solidFill>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5101200" cy="3248400"/>
          </a:xfrm>
          <a:prstGeom prst="rect">
            <a:avLst/>
          </a:prstGeom>
          <a:solidFill>
            <a:srgbClr val="56638E"/>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rgbClr val="FCE5CD"/>
                </a:solidFill>
                <a:latin typeface="Times New Roman"/>
                <a:ea typeface="Times New Roman"/>
                <a:cs typeface="Times New Roman"/>
                <a:sym typeface="Times New Roman"/>
              </a:rPr>
              <a:t>My data comes from the Maryland Coastal Resiliency Assessment</a:t>
            </a:r>
            <a:endParaRPr sz="11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FCE5CD"/>
                </a:solidFill>
                <a:latin typeface="Times New Roman"/>
                <a:ea typeface="Times New Roman"/>
                <a:cs typeface="Times New Roman"/>
                <a:sym typeface="Times New Roman"/>
              </a:rPr>
              <a:t>and was created by the Maryland Department of Natural Resources and The Nature Conservancy to identify priority restoration and protection areas for communities at risk from coastal hazards</a:t>
            </a:r>
            <a:endParaRPr sz="11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rPr b="1" lang="en" sz="1100">
                <a:solidFill>
                  <a:srgbClr val="FCE5CD"/>
                </a:solidFill>
                <a:latin typeface="Times New Roman"/>
                <a:ea typeface="Times New Roman"/>
                <a:cs typeface="Times New Roman"/>
                <a:sym typeface="Times New Roman"/>
              </a:rPr>
              <a:t>Main dataset:</a:t>
            </a:r>
            <a:r>
              <a:rPr lang="en" sz="1100">
                <a:solidFill>
                  <a:srgbClr val="FCE5CD"/>
                </a:solidFill>
                <a:latin typeface="Times New Roman"/>
                <a:ea typeface="Times New Roman"/>
                <a:cs typeface="Times New Roman"/>
                <a:sym typeface="Times New Roman"/>
              </a:rPr>
              <a:t> Shoreline Hazard Index</a:t>
            </a:r>
            <a:endParaRPr sz="1100">
              <a:solidFill>
                <a:srgbClr val="FCE5CD"/>
              </a:solidFill>
              <a:latin typeface="Times New Roman"/>
              <a:ea typeface="Times New Roman"/>
              <a:cs typeface="Times New Roman"/>
              <a:sym typeface="Times New Roman"/>
            </a:endParaRPr>
          </a:p>
          <a:p>
            <a:pPr indent="-298450" lvl="0" marL="457200" rtl="0" algn="l">
              <a:spcBef>
                <a:spcPts val="1200"/>
              </a:spcBef>
              <a:spcAft>
                <a:spcPts val="0"/>
              </a:spcAft>
              <a:buClr>
                <a:srgbClr val="FCE5CD"/>
              </a:buClr>
              <a:buSzPts val="1100"/>
              <a:buFont typeface="Times New Roman"/>
              <a:buChar char="●"/>
            </a:pPr>
            <a:r>
              <a:rPr lang="en" sz="1100">
                <a:solidFill>
                  <a:srgbClr val="FCE5CD"/>
                </a:solidFill>
                <a:latin typeface="Times New Roman"/>
                <a:ea typeface="Times New Roman"/>
                <a:cs typeface="Times New Roman"/>
                <a:sym typeface="Times New Roman"/>
              </a:rPr>
              <a:t>Includes coastal habitat and hazard data</a:t>
            </a:r>
            <a:endParaRPr sz="1100">
              <a:solidFill>
                <a:srgbClr val="FCE5CD"/>
              </a:solidFill>
              <a:latin typeface="Times New Roman"/>
              <a:ea typeface="Times New Roman"/>
              <a:cs typeface="Times New Roman"/>
              <a:sym typeface="Times New Roman"/>
            </a:endParaRPr>
          </a:p>
          <a:p>
            <a:pPr indent="-298450" lvl="0" marL="457200" rtl="0" algn="l">
              <a:spcBef>
                <a:spcPts val="0"/>
              </a:spcBef>
              <a:spcAft>
                <a:spcPts val="0"/>
              </a:spcAft>
              <a:buClr>
                <a:srgbClr val="FCE5CD"/>
              </a:buClr>
              <a:buSzPts val="1100"/>
              <a:buFont typeface="Times New Roman"/>
              <a:buChar char="●"/>
            </a:pPr>
            <a:r>
              <a:rPr lang="en" sz="1100">
                <a:solidFill>
                  <a:srgbClr val="FCE5CD"/>
                </a:solidFill>
                <a:latin typeface="Times New Roman"/>
                <a:ea typeface="Times New Roman"/>
                <a:cs typeface="Times New Roman"/>
                <a:sym typeface="Times New Roman"/>
              </a:rPr>
              <a:t>Contains six physical hazard variables and five habitat types</a:t>
            </a:r>
            <a:endParaRPr sz="1100">
              <a:solidFill>
                <a:srgbClr val="FCE5CD"/>
              </a:solidFill>
              <a:latin typeface="Times New Roman"/>
              <a:ea typeface="Times New Roman"/>
              <a:cs typeface="Times New Roman"/>
              <a:sym typeface="Times New Roman"/>
            </a:endParaRPr>
          </a:p>
          <a:p>
            <a:pPr indent="-298450" lvl="0" marL="457200" rtl="0" algn="l">
              <a:spcBef>
                <a:spcPts val="0"/>
              </a:spcBef>
              <a:spcAft>
                <a:spcPts val="0"/>
              </a:spcAft>
              <a:buClr>
                <a:srgbClr val="FCE5CD"/>
              </a:buClr>
              <a:buSzPts val="1100"/>
              <a:buFont typeface="Times New Roman"/>
              <a:buChar char="●"/>
            </a:pPr>
            <a:r>
              <a:rPr lang="en" sz="1100">
                <a:solidFill>
                  <a:srgbClr val="FCE5CD"/>
                </a:solidFill>
                <a:latin typeface="Times New Roman"/>
                <a:ea typeface="Times New Roman"/>
                <a:cs typeface="Times New Roman"/>
                <a:sym typeface="Times New Roman"/>
              </a:rPr>
              <a:t>Also includes location-based descriptive data</a:t>
            </a:r>
            <a:endParaRPr sz="1100">
              <a:solidFill>
                <a:srgbClr val="FCE5CD"/>
              </a:solidFill>
              <a:latin typeface="Times New Roman"/>
              <a:ea typeface="Times New Roman"/>
              <a:cs typeface="Times New Roman"/>
              <a:sym typeface="Times New Roman"/>
            </a:endParaRPr>
          </a:p>
          <a:p>
            <a:pPr indent="0" lvl="0" marL="0" rtl="0" algn="l">
              <a:spcBef>
                <a:spcPts val="1200"/>
              </a:spcBef>
              <a:spcAft>
                <a:spcPts val="0"/>
              </a:spcAft>
              <a:buNone/>
            </a:pPr>
            <a:r>
              <a:rPr b="1" lang="en" sz="1100">
                <a:solidFill>
                  <a:srgbClr val="FCE5CD"/>
                </a:solidFill>
                <a:latin typeface="Times New Roman"/>
                <a:ea typeface="Times New Roman"/>
                <a:cs typeface="Times New Roman"/>
                <a:sym typeface="Times New Roman"/>
              </a:rPr>
              <a:t>Second dataset:</a:t>
            </a:r>
            <a:r>
              <a:rPr lang="en" sz="1100">
                <a:solidFill>
                  <a:srgbClr val="FCE5CD"/>
                </a:solidFill>
                <a:latin typeface="Times New Roman"/>
                <a:ea typeface="Times New Roman"/>
                <a:cs typeface="Times New Roman"/>
                <a:sym typeface="Times New Roman"/>
              </a:rPr>
              <a:t> Marsh Protection Potential Index</a:t>
            </a:r>
            <a:endParaRPr sz="1100">
              <a:solidFill>
                <a:srgbClr val="FCE5CD"/>
              </a:solidFill>
              <a:latin typeface="Times New Roman"/>
              <a:ea typeface="Times New Roman"/>
              <a:cs typeface="Times New Roman"/>
              <a:sym typeface="Times New Roman"/>
            </a:endParaRPr>
          </a:p>
          <a:p>
            <a:pPr indent="-298450" lvl="0" marL="457200" rtl="0" algn="l">
              <a:spcBef>
                <a:spcPts val="1200"/>
              </a:spcBef>
              <a:spcAft>
                <a:spcPts val="0"/>
              </a:spcAft>
              <a:buClr>
                <a:srgbClr val="FCE5CD"/>
              </a:buClr>
              <a:buSzPts val="1100"/>
              <a:buFont typeface="Times New Roman"/>
              <a:buChar char="●"/>
            </a:pPr>
            <a:r>
              <a:rPr lang="en" sz="1100">
                <a:solidFill>
                  <a:srgbClr val="FCE5CD"/>
                </a:solidFill>
                <a:latin typeface="Times New Roman"/>
                <a:ea typeface="Times New Roman"/>
                <a:cs typeface="Times New Roman"/>
                <a:sym typeface="Times New Roman"/>
              </a:rPr>
              <a:t>Used with main dataset for deeper analysis</a:t>
            </a:r>
            <a:endParaRPr sz="1100">
              <a:solidFill>
                <a:srgbClr val="FCE5CD"/>
              </a:solidFill>
              <a:latin typeface="Times New Roman"/>
              <a:ea typeface="Times New Roman"/>
              <a:cs typeface="Times New Roman"/>
              <a:sym typeface="Times New Roman"/>
            </a:endParaRPr>
          </a:p>
          <a:p>
            <a:pPr indent="-298450" lvl="0" marL="457200" rtl="0" algn="l">
              <a:spcBef>
                <a:spcPts val="0"/>
              </a:spcBef>
              <a:spcAft>
                <a:spcPts val="0"/>
              </a:spcAft>
              <a:buClr>
                <a:srgbClr val="FCE5CD"/>
              </a:buClr>
              <a:buSzPts val="1100"/>
              <a:buFont typeface="Times New Roman"/>
              <a:buChar char="●"/>
            </a:pPr>
            <a:r>
              <a:rPr lang="en" sz="1100">
                <a:solidFill>
                  <a:srgbClr val="FCE5CD"/>
                </a:solidFill>
                <a:latin typeface="Times New Roman"/>
                <a:ea typeface="Times New Roman"/>
                <a:cs typeface="Times New Roman"/>
                <a:sym typeface="Times New Roman"/>
              </a:rPr>
              <a:t>Focuses on habitat conditions, resilience, and community risk</a:t>
            </a:r>
            <a:endParaRPr sz="1500">
              <a:solidFill>
                <a:srgbClr val="FCE5CD"/>
              </a:solidFill>
              <a:latin typeface="Times New Roman"/>
              <a:ea typeface="Times New Roman"/>
              <a:cs typeface="Times New Roman"/>
              <a:sym typeface="Times New Roman"/>
            </a:endParaRPr>
          </a:p>
        </p:txBody>
      </p:sp>
      <p:pic>
        <p:nvPicPr>
          <p:cNvPr id="77" name="Google Shape;77;p16" title="Screenshot 2026-05-04 at 8.10.03 PM.png"/>
          <p:cNvPicPr preferRelativeResize="0"/>
          <p:nvPr/>
        </p:nvPicPr>
        <p:blipFill rotWithShape="1">
          <a:blip r:embed="rId3">
            <a:alphaModFix/>
          </a:blip>
          <a:srcRect b="3131" l="0" r="0" t="3122"/>
          <a:stretch/>
        </p:blipFill>
        <p:spPr>
          <a:xfrm>
            <a:off x="5522125" y="1697425"/>
            <a:ext cx="3426301" cy="21414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8761D"/>
                </a:solidFill>
                <a:latin typeface="Times New Roman"/>
                <a:ea typeface="Times New Roman"/>
                <a:cs typeface="Times New Roman"/>
                <a:sym typeface="Times New Roman"/>
              </a:rPr>
              <a:t>Cleaning</a:t>
            </a:r>
            <a:endParaRPr>
              <a:solidFill>
                <a:srgbClr val="38761D"/>
              </a:solidFill>
              <a:latin typeface="Times New Roman"/>
              <a:ea typeface="Times New Roman"/>
              <a:cs typeface="Times New Roman"/>
              <a:sym typeface="Times New Roman"/>
            </a:endParaRPr>
          </a:p>
        </p:txBody>
      </p:sp>
      <p:sp>
        <p:nvSpPr>
          <p:cNvPr id="83" name="Google Shape;83;p17"/>
          <p:cNvSpPr txBox="1"/>
          <p:nvPr>
            <p:ph idx="1" type="body"/>
          </p:nvPr>
        </p:nvSpPr>
        <p:spPr>
          <a:xfrm>
            <a:off x="311700" y="1134625"/>
            <a:ext cx="3614100" cy="3366000"/>
          </a:xfrm>
          <a:prstGeom prst="rect">
            <a:avLst/>
          </a:prstGeom>
          <a:solidFill>
            <a:srgbClr val="56638E"/>
          </a:solidFill>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FCE5CD"/>
                </a:solidFill>
                <a:latin typeface="Times New Roman"/>
                <a:ea typeface="Times New Roman"/>
                <a:cs typeface="Times New Roman"/>
                <a:sym typeface="Times New Roman"/>
              </a:rPr>
              <a:t>I cleaned my dataset by first inspecting its structure and merging two datasets using a shared ID. I then converted categorical variables into numerical values to make them easier to analyze and ensured hazard variables were treated as ordered categories. After addressing missing data, I finalized a clean dataset with fewer rows but no missing values.</a:t>
            </a:r>
            <a:endParaRPr sz="12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FCE5CD"/>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FCE5CD"/>
                </a:solidFill>
                <a:latin typeface="Times New Roman"/>
                <a:ea typeface="Times New Roman"/>
                <a:cs typeface="Times New Roman"/>
                <a:sym typeface="Times New Roman"/>
              </a:rPr>
              <a:t>My final dataset had 11,280 rows and I ended up using 24 of the 47 columns</a:t>
            </a:r>
            <a:endParaRPr sz="1200">
              <a:solidFill>
                <a:srgbClr val="FCE5CD"/>
              </a:solidFill>
              <a:latin typeface="Times New Roman"/>
              <a:ea typeface="Times New Roman"/>
              <a:cs typeface="Times New Roman"/>
              <a:sym typeface="Times New Roman"/>
            </a:endParaRPr>
          </a:p>
        </p:txBody>
      </p:sp>
      <p:pic>
        <p:nvPicPr>
          <p:cNvPr id="84" name="Google Shape;84;p17"/>
          <p:cNvPicPr preferRelativeResize="0"/>
          <p:nvPr/>
        </p:nvPicPr>
        <p:blipFill>
          <a:blip r:embed="rId3">
            <a:alphaModFix/>
          </a:blip>
          <a:stretch>
            <a:fillRect/>
          </a:stretch>
        </p:blipFill>
        <p:spPr>
          <a:xfrm>
            <a:off x="5222823" y="1899575"/>
            <a:ext cx="2177626" cy="27700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Visualizations</a:t>
            </a:r>
            <a:endParaRPr>
              <a:solidFill>
                <a:srgbClr val="FCE5CD"/>
              </a:solidFill>
              <a:latin typeface="Times New Roman"/>
              <a:ea typeface="Times New Roman"/>
              <a:cs typeface="Times New Roman"/>
              <a:sym typeface="Times New Roman"/>
            </a:endParaRPr>
          </a:p>
        </p:txBody>
      </p:sp>
      <p:sp>
        <p:nvSpPr>
          <p:cNvPr id="90" name="Google Shape;90;p18"/>
          <p:cNvSpPr txBox="1"/>
          <p:nvPr/>
        </p:nvSpPr>
        <p:spPr>
          <a:xfrm>
            <a:off x="311700" y="1077600"/>
            <a:ext cx="3000000" cy="3555600"/>
          </a:xfrm>
          <a:prstGeom prst="rect">
            <a:avLst/>
          </a:prstGeom>
          <a:solidFill>
            <a:srgbClr val="56638E"/>
          </a:solid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visualized what the future of coastal habitats might look like using the variable PercentRemaining2100</a:t>
            </a:r>
            <a:endParaRPr sz="1200">
              <a:solidFill>
                <a:srgbClr val="FCE5CD"/>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distribution is strongly right-skewed</a:t>
            </a:r>
            <a:endParaRPr sz="1200">
              <a:solidFill>
                <a:srgbClr val="FCE5CD"/>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many areas are expected to retain only a small percentage of their habitats by 2100</a:t>
            </a:r>
            <a:endParaRPr sz="1200">
              <a:solidFill>
                <a:srgbClr val="FCE5CD"/>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peak on the left side indicates a large number of locations with very low habitat remaining</a:t>
            </a:r>
            <a:endParaRPr sz="1200">
              <a:solidFill>
                <a:srgbClr val="FCE5CD"/>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tail of the distribution shows that some areas are more resilient than others</a:t>
            </a:r>
            <a:endParaRPr sz="1200">
              <a:solidFill>
                <a:srgbClr val="FCE5CD"/>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FCE5CD"/>
              </a:buClr>
              <a:buSzPts val="1200"/>
              <a:buFont typeface="Times New Roman"/>
              <a:buChar char="●"/>
            </a:pPr>
            <a:r>
              <a:rPr lang="en" sz="1200">
                <a:solidFill>
                  <a:srgbClr val="FCE5CD"/>
                </a:solidFill>
                <a:latin typeface="Times New Roman"/>
                <a:ea typeface="Times New Roman"/>
                <a:cs typeface="Times New Roman"/>
                <a:sym typeface="Times New Roman"/>
              </a:rPr>
              <a:t>important to investigate what factors contribute to both habitat loss and long-term resilience</a:t>
            </a:r>
            <a:endParaRPr sz="1200">
              <a:solidFill>
                <a:srgbClr val="FCE5CD"/>
              </a:solidFill>
              <a:latin typeface="Times New Roman"/>
              <a:ea typeface="Times New Roman"/>
              <a:cs typeface="Times New Roman"/>
              <a:sym typeface="Times New Roman"/>
            </a:endParaRPr>
          </a:p>
        </p:txBody>
      </p:sp>
      <p:pic>
        <p:nvPicPr>
          <p:cNvPr id="91" name="Google Shape;91;p18"/>
          <p:cNvPicPr preferRelativeResize="0"/>
          <p:nvPr/>
        </p:nvPicPr>
        <p:blipFill>
          <a:blip r:embed="rId3">
            <a:alphaModFix/>
          </a:blip>
          <a:stretch>
            <a:fillRect/>
          </a:stretch>
        </p:blipFill>
        <p:spPr>
          <a:xfrm>
            <a:off x="4294396" y="1724250"/>
            <a:ext cx="4112974" cy="2503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95" name="Shape 95"/>
        <p:cNvGrpSpPr/>
        <p:nvPr/>
      </p:nvGrpSpPr>
      <p:grpSpPr>
        <a:xfrm>
          <a:off x="0" y="0"/>
          <a:ext cx="0" cy="0"/>
          <a:chOff x="0" y="0"/>
          <a:chExt cx="0" cy="0"/>
        </a:xfrm>
      </p:grpSpPr>
      <p:sp>
        <p:nvSpPr>
          <p:cNvPr id="96" name="Google Shape;96;p19"/>
          <p:cNvSpPr txBox="1"/>
          <p:nvPr/>
        </p:nvSpPr>
        <p:spPr>
          <a:xfrm>
            <a:off x="311700" y="561300"/>
            <a:ext cx="3000000" cy="2993700"/>
          </a:xfrm>
          <a:prstGeom prst="rect">
            <a:avLst/>
          </a:prstGeom>
          <a:solidFill>
            <a:srgbClr val="56638E"/>
          </a:solid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examined how habitat loss varies across different habitat types to understand which ecosystems are most affected</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forests and marshes are expected to lose over 60% of their area on average, while underwater grass, oyster reefs, and dunes are projected to lose less than 60%</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small differences still important when considering targeted conservation strategies</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compared habitat loss across counties to identify which areas are most at risk</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variation across regions</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Caroline County experiencing the highest average loss (74.7%), while Worcester County has a lower average loss (52.8%)</a:t>
            </a:r>
            <a:endParaRPr sz="1200">
              <a:solidFill>
                <a:srgbClr val="FCE5CD"/>
              </a:solidFill>
              <a:latin typeface="Times New Roman"/>
              <a:ea typeface="Times New Roman"/>
              <a:cs typeface="Times New Roman"/>
              <a:sym typeface="Times New Roman"/>
            </a:endParaRPr>
          </a:p>
        </p:txBody>
      </p:sp>
      <p:pic>
        <p:nvPicPr>
          <p:cNvPr id="97" name="Google Shape;97;p19"/>
          <p:cNvPicPr preferRelativeResize="0"/>
          <p:nvPr/>
        </p:nvPicPr>
        <p:blipFill>
          <a:blip r:embed="rId3">
            <a:alphaModFix/>
          </a:blip>
          <a:stretch>
            <a:fillRect/>
          </a:stretch>
        </p:blipFill>
        <p:spPr>
          <a:xfrm>
            <a:off x="4301375" y="251222"/>
            <a:ext cx="3812301" cy="2320528"/>
          </a:xfrm>
          <a:prstGeom prst="rect">
            <a:avLst/>
          </a:prstGeom>
          <a:noFill/>
          <a:ln>
            <a:noFill/>
          </a:ln>
        </p:spPr>
      </p:pic>
      <p:pic>
        <p:nvPicPr>
          <p:cNvPr id="98" name="Google Shape;98;p19"/>
          <p:cNvPicPr preferRelativeResize="0"/>
          <p:nvPr/>
        </p:nvPicPr>
        <p:blipFill>
          <a:blip r:embed="rId4">
            <a:alphaModFix/>
          </a:blip>
          <a:stretch>
            <a:fillRect/>
          </a:stretch>
        </p:blipFill>
        <p:spPr>
          <a:xfrm>
            <a:off x="4284988" y="2720250"/>
            <a:ext cx="3845083" cy="2266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02" name="Shape 102"/>
        <p:cNvGrpSpPr/>
        <p:nvPr/>
      </p:nvGrpSpPr>
      <p:grpSpPr>
        <a:xfrm>
          <a:off x="0" y="0"/>
          <a:ext cx="0" cy="0"/>
          <a:chOff x="0" y="0"/>
          <a:chExt cx="0" cy="0"/>
        </a:xfrm>
      </p:grpSpPr>
      <p:sp>
        <p:nvSpPr>
          <p:cNvPr id="103" name="Google Shape;103;p20"/>
          <p:cNvSpPr txBox="1"/>
          <p:nvPr/>
        </p:nvSpPr>
        <p:spPr>
          <a:xfrm>
            <a:off x="4646625" y="943900"/>
            <a:ext cx="3192900" cy="3486300"/>
          </a:xfrm>
          <a:prstGeom prst="rect">
            <a:avLst/>
          </a:prstGeom>
          <a:solidFill>
            <a:srgbClr val="56638E"/>
          </a:solidFill>
          <a:ln>
            <a:noFill/>
          </a:ln>
        </p:spPr>
        <p:txBody>
          <a:bodyPr anchorCtr="0" anchor="t" bIns="91425" lIns="91425" spcFirstLastPara="1" rIns="91425" wrap="square" tIns="91425">
            <a:spAutoFit/>
          </a:bodyPr>
          <a:lstStyle/>
          <a:p>
            <a:pPr indent="-292100" lvl="0" marL="457200" rtl="0" algn="l">
              <a:lnSpc>
                <a:spcPct val="115000"/>
              </a:lnSpc>
              <a:spcBef>
                <a:spcPts val="120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compared hazard levels with and without the presence of habitats</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areas with habitats tend to experience lower average hazard levels than areas without them</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hazards are measured on a scale from 0 to 4 and include geomorphology, elevation, sea level rise, waves, storm surge, and erosion</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120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areas with more habitat diversity tend to have lower hazard risk</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locations with two or three habitat types show stronger protection compared to areas with only one type</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protection may weaken in the future as habitats continue to decline, reducing overall resilience</a:t>
            </a:r>
            <a:endParaRPr sz="1000">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200">
              <a:solidFill>
                <a:srgbClr val="FCE5CD"/>
              </a:solidFill>
              <a:latin typeface="Times New Roman"/>
              <a:ea typeface="Times New Roman"/>
              <a:cs typeface="Times New Roman"/>
              <a:sym typeface="Times New Roman"/>
            </a:endParaRPr>
          </a:p>
        </p:txBody>
      </p:sp>
      <p:pic>
        <p:nvPicPr>
          <p:cNvPr id="104" name="Google Shape;104;p20"/>
          <p:cNvPicPr preferRelativeResize="0"/>
          <p:nvPr/>
        </p:nvPicPr>
        <p:blipFill>
          <a:blip r:embed="rId3">
            <a:alphaModFix/>
          </a:blip>
          <a:stretch>
            <a:fillRect/>
          </a:stretch>
        </p:blipFill>
        <p:spPr>
          <a:xfrm>
            <a:off x="329850" y="2571750"/>
            <a:ext cx="3568605" cy="2366549"/>
          </a:xfrm>
          <a:prstGeom prst="rect">
            <a:avLst/>
          </a:prstGeom>
          <a:noFill/>
          <a:ln>
            <a:noFill/>
          </a:ln>
        </p:spPr>
      </p:pic>
      <p:pic>
        <p:nvPicPr>
          <p:cNvPr id="105" name="Google Shape;105;p20"/>
          <p:cNvPicPr preferRelativeResize="0"/>
          <p:nvPr/>
        </p:nvPicPr>
        <p:blipFill>
          <a:blip r:embed="rId4">
            <a:alphaModFix/>
          </a:blip>
          <a:stretch>
            <a:fillRect/>
          </a:stretch>
        </p:blipFill>
        <p:spPr>
          <a:xfrm>
            <a:off x="626700" y="249800"/>
            <a:ext cx="2974901" cy="2266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109" name="Shape 109"/>
        <p:cNvGrpSpPr/>
        <p:nvPr/>
      </p:nvGrpSpPr>
      <p:grpSpPr>
        <a:xfrm>
          <a:off x="0" y="0"/>
          <a:ext cx="0" cy="0"/>
          <a:chOff x="0" y="0"/>
          <a:chExt cx="0" cy="0"/>
        </a:xfrm>
      </p:grpSpPr>
      <p:sp>
        <p:nvSpPr>
          <p:cNvPr id="110" name="Google Shape;110;p21"/>
          <p:cNvSpPr txBox="1"/>
          <p:nvPr/>
        </p:nvSpPr>
        <p:spPr>
          <a:xfrm>
            <a:off x="311700" y="963375"/>
            <a:ext cx="3192900" cy="3024600"/>
          </a:xfrm>
          <a:prstGeom prst="rect">
            <a:avLst/>
          </a:prstGeom>
          <a:solidFill>
            <a:srgbClr val="56638E"/>
          </a:solid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visualized the average protection provided by different habitat types across each county</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Caroline County is among the areas with the highest projected habitat loss</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Caroline County’s coastal protection mainly comes from marshes and forests</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suggests that Caroline County (and similar areas) could be key priorities for targeted habitat protection efforts</a:t>
            </a:r>
            <a:endParaRPr sz="1000">
              <a:solidFill>
                <a:srgbClr val="FCE5CD"/>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Removed dunes and </a:t>
            </a:r>
            <a:r>
              <a:rPr lang="en" sz="1000">
                <a:solidFill>
                  <a:srgbClr val="FCE5CD"/>
                </a:solidFill>
                <a:latin typeface="Times New Roman"/>
                <a:ea typeface="Times New Roman"/>
                <a:cs typeface="Times New Roman"/>
                <a:sym typeface="Times New Roman"/>
              </a:rPr>
              <a:t>oyster reefs due to missing data</a:t>
            </a:r>
            <a:endParaRPr sz="1000">
              <a:solidFill>
                <a:srgbClr val="FCE5C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solidFill>
                <a:srgbClr val="FCE5CD"/>
              </a:solidFill>
              <a:latin typeface="Times New Roman"/>
              <a:ea typeface="Times New Roman"/>
              <a:cs typeface="Times New Roman"/>
              <a:sym typeface="Times New Roman"/>
            </a:endParaRPr>
          </a:p>
        </p:txBody>
      </p:sp>
      <p:pic>
        <p:nvPicPr>
          <p:cNvPr id="111" name="Google Shape;111;p21"/>
          <p:cNvPicPr preferRelativeResize="0"/>
          <p:nvPr/>
        </p:nvPicPr>
        <p:blipFill>
          <a:blip r:embed="rId3">
            <a:alphaModFix/>
          </a:blip>
          <a:stretch>
            <a:fillRect/>
          </a:stretch>
        </p:blipFill>
        <p:spPr>
          <a:xfrm>
            <a:off x="3884575" y="807588"/>
            <a:ext cx="4947722"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Regression Model</a:t>
            </a:r>
            <a:endParaRPr>
              <a:solidFill>
                <a:srgbClr val="FCE5CD"/>
              </a:solidFill>
              <a:latin typeface="Times New Roman"/>
              <a:ea typeface="Times New Roman"/>
              <a:cs typeface="Times New Roman"/>
              <a:sym typeface="Times New Roman"/>
            </a:endParaRPr>
          </a:p>
        </p:txBody>
      </p:sp>
      <p:sp>
        <p:nvSpPr>
          <p:cNvPr id="117" name="Google Shape;117;p22"/>
          <p:cNvSpPr txBox="1"/>
          <p:nvPr/>
        </p:nvSpPr>
        <p:spPr>
          <a:xfrm>
            <a:off x="311700" y="963375"/>
            <a:ext cx="3382800" cy="2993700"/>
          </a:xfrm>
          <a:prstGeom prst="rect">
            <a:avLst/>
          </a:prstGeom>
          <a:solidFill>
            <a:srgbClr val="56638E"/>
          </a:solid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built a regression model to examine the relationship between habitat buffer preservation and long-term habitat outcomes</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prepared the data by selecting PercentRemaining2100 as the target variable and PercentBufferRemain (not being occupied by humans)  as the predictor, then splitting the data into training (80%) and testing (20%) sets</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scaled the predictor and fit an OLS linear regression model to analyze the relationship</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evaluated using R² and RMSE, and visualized with a scatterplot and regression line</a:t>
            </a:r>
            <a:endParaRPr sz="1000">
              <a:solidFill>
                <a:srgbClr val="FCE5CD"/>
              </a:solidFill>
              <a:latin typeface="Times New Roman"/>
              <a:ea typeface="Times New Roman"/>
              <a:cs typeface="Times New Roman"/>
              <a:sym typeface="Times New Roman"/>
            </a:endParaRPr>
          </a:p>
          <a:p>
            <a:pPr indent="-292100" lvl="0" marL="457200" rtl="0" algn="l">
              <a:lnSpc>
                <a:spcPct val="115000"/>
              </a:lnSpc>
              <a:spcBef>
                <a:spcPts val="0"/>
              </a:spcBef>
              <a:spcAft>
                <a:spcPts val="0"/>
              </a:spcAft>
              <a:buClr>
                <a:srgbClr val="FCE5CD"/>
              </a:buClr>
              <a:buSzPts val="1000"/>
              <a:buFont typeface="Times New Roman"/>
              <a:buChar char="●"/>
            </a:pPr>
            <a:r>
              <a:rPr lang="en" sz="1000">
                <a:solidFill>
                  <a:srgbClr val="FCE5CD"/>
                </a:solidFill>
                <a:latin typeface="Times New Roman"/>
                <a:ea typeface="Times New Roman"/>
                <a:cs typeface="Times New Roman"/>
                <a:sym typeface="Times New Roman"/>
              </a:rPr>
              <a:t>weak but statistically significant relationship between buffer preservation and habitat remaining in 2100</a:t>
            </a:r>
            <a:endParaRPr sz="1000">
              <a:solidFill>
                <a:srgbClr val="FCE5C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rgbClr val="FCE5CD"/>
              </a:solidFill>
              <a:latin typeface="Times New Roman"/>
              <a:ea typeface="Times New Roman"/>
              <a:cs typeface="Times New Roman"/>
              <a:sym typeface="Times New Roman"/>
            </a:endParaRPr>
          </a:p>
        </p:txBody>
      </p:sp>
      <p:pic>
        <p:nvPicPr>
          <p:cNvPr id="118" name="Google Shape;118;p22"/>
          <p:cNvPicPr preferRelativeResize="0"/>
          <p:nvPr/>
        </p:nvPicPr>
        <p:blipFill>
          <a:blip r:embed="rId3">
            <a:alphaModFix/>
          </a:blip>
          <a:stretch>
            <a:fillRect/>
          </a:stretch>
        </p:blipFill>
        <p:spPr>
          <a:xfrm>
            <a:off x="3810675" y="445025"/>
            <a:ext cx="5144699" cy="3310765"/>
          </a:xfrm>
          <a:prstGeom prst="rect">
            <a:avLst/>
          </a:prstGeom>
          <a:noFill/>
          <a:ln>
            <a:noFill/>
          </a:ln>
        </p:spPr>
      </p:pic>
      <p:pic>
        <p:nvPicPr>
          <p:cNvPr id="119" name="Google Shape;119;p22" title="Screenshot 2026-05-04 at 10.14.16 PM.png"/>
          <p:cNvPicPr preferRelativeResize="0"/>
          <p:nvPr/>
        </p:nvPicPr>
        <p:blipFill>
          <a:blip r:embed="rId4">
            <a:alphaModFix/>
          </a:blip>
          <a:stretch>
            <a:fillRect/>
          </a:stretch>
        </p:blipFill>
        <p:spPr>
          <a:xfrm>
            <a:off x="3846900" y="3908190"/>
            <a:ext cx="4705350" cy="628650"/>
          </a:xfrm>
          <a:prstGeom prst="rect">
            <a:avLst/>
          </a:prstGeom>
          <a:noFill/>
          <a:ln>
            <a:noFill/>
          </a:ln>
        </p:spPr>
      </p:pic>
      <p:pic>
        <p:nvPicPr>
          <p:cNvPr id="120" name="Google Shape;120;p22"/>
          <p:cNvPicPr preferRelativeResize="0"/>
          <p:nvPr/>
        </p:nvPicPr>
        <p:blipFill>
          <a:blip r:embed="rId5">
            <a:alphaModFix/>
          </a:blip>
          <a:stretch>
            <a:fillRect/>
          </a:stretch>
        </p:blipFill>
        <p:spPr>
          <a:xfrm>
            <a:off x="410825" y="3630200"/>
            <a:ext cx="3057149" cy="1282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172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Key Findings</a:t>
            </a:r>
            <a:endParaRPr>
              <a:solidFill>
                <a:srgbClr val="FCE5CD"/>
              </a:solidFill>
              <a:latin typeface="Times New Roman"/>
              <a:ea typeface="Times New Roman"/>
              <a:cs typeface="Times New Roman"/>
              <a:sym typeface="Times New Roman"/>
            </a:endParaRPr>
          </a:p>
        </p:txBody>
      </p:sp>
      <p:sp>
        <p:nvSpPr>
          <p:cNvPr id="126" name="Google Shape;126;p23"/>
          <p:cNvSpPr txBox="1"/>
          <p:nvPr/>
        </p:nvSpPr>
        <p:spPr>
          <a:xfrm>
            <a:off x="311700" y="744975"/>
            <a:ext cx="8679600" cy="3724800"/>
          </a:xfrm>
          <a:prstGeom prst="rect">
            <a:avLst/>
          </a:prstGeom>
          <a:solidFill>
            <a:srgbClr val="FCE5CD"/>
          </a:solid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rgbClr val="38761D"/>
              </a:buClr>
              <a:buSzPts val="900"/>
              <a:buFont typeface="Times New Roman"/>
              <a:buChar char="●"/>
            </a:pPr>
            <a:r>
              <a:rPr lang="en" sz="1200">
                <a:solidFill>
                  <a:srgbClr val="38761D"/>
                </a:solidFill>
                <a:latin typeface="Times New Roman"/>
                <a:ea typeface="Times New Roman"/>
                <a:cs typeface="Times New Roman"/>
                <a:sym typeface="Times New Roman"/>
              </a:rPr>
              <a:t>Coastal habitats play a key role in reducing hazard risk, with areas that have more or diverse habitats generally experiencing lower exposure to hazards.</a:t>
            </a:r>
            <a:endParaRPr sz="1200">
              <a:solidFill>
                <a:srgbClr val="38761D"/>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200">
              <a:solidFill>
                <a:srgbClr val="38761D"/>
              </a:solidFill>
              <a:latin typeface="Times New Roman"/>
              <a:ea typeface="Times New Roman"/>
              <a:cs typeface="Times New Roman"/>
              <a:sym typeface="Times New Roman"/>
            </a:endParaRPr>
          </a:p>
          <a:p>
            <a:pPr indent="-285750" lvl="0" marL="457200" rtl="0" algn="l">
              <a:lnSpc>
                <a:spcPct val="115000"/>
              </a:lnSpc>
              <a:spcBef>
                <a:spcPts val="1200"/>
              </a:spcBef>
              <a:spcAft>
                <a:spcPts val="0"/>
              </a:spcAft>
              <a:buClr>
                <a:srgbClr val="38761D"/>
              </a:buClr>
              <a:buSzPts val="900"/>
              <a:buFont typeface="Times New Roman"/>
              <a:buChar char="●"/>
            </a:pPr>
            <a:r>
              <a:rPr lang="en" sz="1200">
                <a:solidFill>
                  <a:srgbClr val="38761D"/>
                </a:solidFill>
                <a:latin typeface="Times New Roman"/>
                <a:ea typeface="Times New Roman"/>
                <a:cs typeface="Times New Roman"/>
                <a:sym typeface="Times New Roman"/>
              </a:rPr>
              <a:t>Habitat loss is not uniform where some ecosystems and some counties are more affected than others, highlighting uneven vulnerability.</a:t>
            </a:r>
            <a:endParaRPr sz="1200">
              <a:solidFill>
                <a:srgbClr val="38761D"/>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200">
              <a:solidFill>
                <a:srgbClr val="38761D"/>
              </a:solidFill>
              <a:latin typeface="Times New Roman"/>
              <a:ea typeface="Times New Roman"/>
              <a:cs typeface="Times New Roman"/>
              <a:sym typeface="Times New Roman"/>
            </a:endParaRPr>
          </a:p>
          <a:p>
            <a:pPr indent="-285750" lvl="0" marL="457200" rtl="0" algn="l">
              <a:lnSpc>
                <a:spcPct val="115000"/>
              </a:lnSpc>
              <a:spcBef>
                <a:spcPts val="1200"/>
              </a:spcBef>
              <a:spcAft>
                <a:spcPts val="0"/>
              </a:spcAft>
              <a:buClr>
                <a:srgbClr val="38761D"/>
              </a:buClr>
              <a:buSzPts val="900"/>
              <a:buFont typeface="Times New Roman"/>
              <a:buChar char="●"/>
            </a:pPr>
            <a:r>
              <a:rPr lang="en" sz="1200">
                <a:solidFill>
                  <a:srgbClr val="38761D"/>
                </a:solidFill>
                <a:latin typeface="Times New Roman"/>
                <a:ea typeface="Times New Roman"/>
                <a:cs typeface="Times New Roman"/>
                <a:sym typeface="Times New Roman"/>
              </a:rPr>
              <a:t>Habitat diversity seems to strengthen natural protection, but this protection is at risk as habitats continue to decline.</a:t>
            </a:r>
            <a:endParaRPr sz="1200">
              <a:solidFill>
                <a:srgbClr val="38761D"/>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200">
              <a:solidFill>
                <a:srgbClr val="38761D"/>
              </a:solidFill>
              <a:latin typeface="Times New Roman"/>
              <a:ea typeface="Times New Roman"/>
              <a:cs typeface="Times New Roman"/>
              <a:sym typeface="Times New Roman"/>
            </a:endParaRPr>
          </a:p>
          <a:p>
            <a:pPr indent="-285750" lvl="0" marL="457200" rtl="0" algn="l">
              <a:lnSpc>
                <a:spcPct val="115000"/>
              </a:lnSpc>
              <a:spcBef>
                <a:spcPts val="1200"/>
              </a:spcBef>
              <a:spcAft>
                <a:spcPts val="0"/>
              </a:spcAft>
              <a:buClr>
                <a:srgbClr val="38761D"/>
              </a:buClr>
              <a:buSzPts val="900"/>
              <a:buFont typeface="Times New Roman"/>
              <a:buChar char="●"/>
            </a:pPr>
            <a:r>
              <a:rPr lang="en" sz="1200">
                <a:solidFill>
                  <a:srgbClr val="38761D"/>
                </a:solidFill>
                <a:latin typeface="Times New Roman"/>
                <a:ea typeface="Times New Roman"/>
                <a:cs typeface="Times New Roman"/>
                <a:sym typeface="Times New Roman"/>
              </a:rPr>
              <a:t>Buffer preservation shows a positive but weak relationship with long term habitat survival, suggesting it contributes to resilience</a:t>
            </a:r>
            <a:endParaRPr sz="1200">
              <a:solidFill>
                <a:srgbClr val="38761D"/>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200">
              <a:solidFill>
                <a:srgbClr val="38761D"/>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rgbClr val="38761D"/>
              </a:buClr>
              <a:buSzPts val="1100"/>
              <a:buFont typeface="Times New Roman"/>
              <a:buChar char="●"/>
            </a:pPr>
            <a:r>
              <a:rPr lang="en" sz="1200">
                <a:solidFill>
                  <a:srgbClr val="38761D"/>
                </a:solidFill>
                <a:latin typeface="Times New Roman"/>
                <a:ea typeface="Times New Roman"/>
                <a:cs typeface="Times New Roman"/>
                <a:sym typeface="Times New Roman"/>
              </a:rPr>
              <a:t>protecting and restoring coastal habitats and their surrounding buffers is important</a:t>
            </a:r>
            <a:endParaRPr>
              <a:solidFill>
                <a:srgbClr val="38761D"/>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CE5CD"/>
                </a:solidFill>
                <a:latin typeface="Times New Roman"/>
                <a:ea typeface="Times New Roman"/>
                <a:cs typeface="Times New Roman"/>
                <a:sym typeface="Times New Roman"/>
              </a:rPr>
              <a:t>Reflection and Next Steps</a:t>
            </a:r>
            <a:endParaRPr>
              <a:solidFill>
                <a:srgbClr val="FCE5CD"/>
              </a:solidFill>
              <a:latin typeface="Times New Roman"/>
              <a:ea typeface="Times New Roman"/>
              <a:cs typeface="Times New Roman"/>
              <a:sym typeface="Times New Roman"/>
            </a:endParaRPr>
          </a:p>
        </p:txBody>
      </p:sp>
      <p:sp>
        <p:nvSpPr>
          <p:cNvPr id="132" name="Google Shape;132;p24"/>
          <p:cNvSpPr txBox="1"/>
          <p:nvPr/>
        </p:nvSpPr>
        <p:spPr>
          <a:xfrm>
            <a:off x="230200" y="1195325"/>
            <a:ext cx="5134500" cy="895800"/>
          </a:xfrm>
          <a:prstGeom prst="rect">
            <a:avLst/>
          </a:prstGeom>
          <a:solidFill>
            <a:srgbClr val="56638E"/>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rgbClr val="FCE5CD"/>
                </a:solidFill>
                <a:latin typeface="Times New Roman"/>
                <a:ea typeface="Times New Roman"/>
                <a:cs typeface="Times New Roman"/>
                <a:sym typeface="Times New Roman"/>
              </a:rPr>
              <a:t>What was especially challenging in this project was trying to create a story. At first, I had a bunch of graphs that I did not know how to connect or how I could apply it to the real world. </a:t>
            </a:r>
            <a:endParaRPr>
              <a:solidFill>
                <a:srgbClr val="FCE5CD"/>
              </a:solidFill>
              <a:latin typeface="Times New Roman"/>
              <a:ea typeface="Times New Roman"/>
              <a:cs typeface="Times New Roman"/>
              <a:sym typeface="Times New Roman"/>
            </a:endParaRPr>
          </a:p>
        </p:txBody>
      </p:sp>
      <p:sp>
        <p:nvSpPr>
          <p:cNvPr id="133" name="Google Shape;133;p24"/>
          <p:cNvSpPr txBox="1"/>
          <p:nvPr/>
        </p:nvSpPr>
        <p:spPr>
          <a:xfrm>
            <a:off x="230200" y="2472138"/>
            <a:ext cx="5134500" cy="895800"/>
          </a:xfrm>
          <a:prstGeom prst="rect">
            <a:avLst/>
          </a:prstGeom>
          <a:solidFill>
            <a:srgbClr val="56638E"/>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rgbClr val="FCE5CD"/>
                </a:solidFill>
                <a:latin typeface="Times New Roman"/>
                <a:ea typeface="Times New Roman"/>
                <a:cs typeface="Times New Roman"/>
                <a:sym typeface="Times New Roman"/>
              </a:rPr>
              <a:t>What was rewarding in the end after facing obstacles was finding information I did not think I would find. I would have never guessed that so much habitat loss would occur in less than 100 years. </a:t>
            </a:r>
            <a:endParaRPr>
              <a:solidFill>
                <a:srgbClr val="FCE5CD"/>
              </a:solidFill>
              <a:latin typeface="Times New Roman"/>
              <a:ea typeface="Times New Roman"/>
              <a:cs typeface="Times New Roman"/>
              <a:sym typeface="Times New Roman"/>
            </a:endParaRPr>
          </a:p>
        </p:txBody>
      </p:sp>
      <p:sp>
        <p:nvSpPr>
          <p:cNvPr id="134" name="Google Shape;134;p24"/>
          <p:cNvSpPr txBox="1"/>
          <p:nvPr/>
        </p:nvSpPr>
        <p:spPr>
          <a:xfrm>
            <a:off x="230200" y="3748950"/>
            <a:ext cx="5194200" cy="1143600"/>
          </a:xfrm>
          <a:prstGeom prst="rect">
            <a:avLst/>
          </a:prstGeom>
          <a:solidFill>
            <a:srgbClr val="56638E"/>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rgbClr val="FCE5CD"/>
                </a:solidFill>
                <a:latin typeface="Times New Roman"/>
                <a:ea typeface="Times New Roman"/>
                <a:cs typeface="Times New Roman"/>
                <a:sym typeface="Times New Roman"/>
              </a:rPr>
              <a:t>This started coming together when I began exploring variables that I thought would be too challenging to use. However, these variables were key to uncovering information. In the future, I will not overlook variables just because I don’t understand them.</a:t>
            </a:r>
            <a:endParaRPr/>
          </a:p>
        </p:txBody>
      </p:sp>
      <p:sp>
        <p:nvSpPr>
          <p:cNvPr id="135" name="Google Shape;135;p24"/>
          <p:cNvSpPr txBox="1"/>
          <p:nvPr/>
        </p:nvSpPr>
        <p:spPr>
          <a:xfrm>
            <a:off x="6248275" y="1109100"/>
            <a:ext cx="2136900" cy="3621900"/>
          </a:xfrm>
          <a:prstGeom prst="rect">
            <a:avLst/>
          </a:prstGeom>
          <a:solidFill>
            <a:srgbClr val="56638E"/>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a:solidFill>
                  <a:srgbClr val="FCE5CD"/>
                </a:solidFill>
                <a:latin typeface="Times New Roman"/>
                <a:ea typeface="Times New Roman"/>
                <a:cs typeface="Times New Roman"/>
                <a:sym typeface="Times New Roman"/>
              </a:rPr>
              <a:t>This project could be expanded by exploring how communities would be </a:t>
            </a:r>
            <a:r>
              <a:rPr lang="en">
                <a:solidFill>
                  <a:srgbClr val="FCE5CD"/>
                </a:solidFill>
                <a:latin typeface="Times New Roman"/>
                <a:ea typeface="Times New Roman"/>
                <a:cs typeface="Times New Roman"/>
                <a:sym typeface="Times New Roman"/>
              </a:rPr>
              <a:t>impacted</a:t>
            </a:r>
            <a:r>
              <a:rPr lang="en">
                <a:solidFill>
                  <a:srgbClr val="FCE5CD"/>
                </a:solidFill>
                <a:latin typeface="Times New Roman"/>
                <a:ea typeface="Times New Roman"/>
                <a:cs typeface="Times New Roman"/>
                <a:sym typeface="Times New Roman"/>
              </a:rPr>
              <a:t> if a natural hazard were to show up. The social vulnerability index describes how much </a:t>
            </a:r>
            <a:r>
              <a:rPr lang="en">
                <a:solidFill>
                  <a:srgbClr val="FCE5CD"/>
                </a:solidFill>
                <a:latin typeface="Times New Roman"/>
                <a:ea typeface="Times New Roman"/>
                <a:cs typeface="Times New Roman"/>
                <a:sym typeface="Times New Roman"/>
              </a:rPr>
              <a:t>help</a:t>
            </a:r>
            <a:r>
              <a:rPr lang="en">
                <a:solidFill>
                  <a:srgbClr val="FCE5CD"/>
                </a:solidFill>
                <a:latin typeface="Times New Roman"/>
                <a:ea typeface="Times New Roman"/>
                <a:cs typeface="Times New Roman"/>
                <a:sym typeface="Times New Roman"/>
              </a:rPr>
              <a:t> a community would need after flooding. Comparing this with community flood risks, we can see if communities that would need more help actually are at higher risks.</a:t>
            </a:r>
            <a:endParaRPr>
              <a:solidFill>
                <a:srgbClr val="FCE5CD"/>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38761D"/>
                </a:solidFill>
                <a:latin typeface="Times New Roman"/>
                <a:ea typeface="Times New Roman"/>
                <a:cs typeface="Times New Roman"/>
                <a:sym typeface="Times New Roman"/>
              </a:rPr>
              <a:t>Acknowledgements</a:t>
            </a:r>
            <a:r>
              <a:rPr lang="en">
                <a:solidFill>
                  <a:srgbClr val="FCE5CD"/>
                </a:solidFill>
                <a:latin typeface="Times New Roman"/>
                <a:ea typeface="Times New Roman"/>
                <a:cs typeface="Times New Roman"/>
                <a:sym typeface="Times New Roman"/>
              </a:rPr>
              <a:t> </a:t>
            </a:r>
            <a:endParaRPr>
              <a:solidFill>
                <a:srgbClr val="FCE5CD"/>
              </a:solidFill>
              <a:latin typeface="Times New Roman"/>
              <a:ea typeface="Times New Roman"/>
              <a:cs typeface="Times New Roman"/>
              <a:sym typeface="Times New Roman"/>
            </a:endParaRPr>
          </a:p>
        </p:txBody>
      </p:sp>
      <p:sp>
        <p:nvSpPr>
          <p:cNvPr id="141" name="Google Shape;141;p25"/>
          <p:cNvSpPr txBox="1"/>
          <p:nvPr/>
        </p:nvSpPr>
        <p:spPr>
          <a:xfrm>
            <a:off x="2017350" y="1393350"/>
            <a:ext cx="5109300" cy="2656800"/>
          </a:xfrm>
          <a:prstGeom prst="rect">
            <a:avLst/>
          </a:prstGeom>
          <a:solidFill>
            <a:srgbClr val="56638E"/>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rgbClr val="FCE5CD"/>
                </a:solidFill>
                <a:latin typeface="Times New Roman"/>
                <a:ea typeface="Times New Roman"/>
                <a:cs typeface="Times New Roman"/>
                <a:sym typeface="Times New Roman"/>
              </a:rPr>
              <a:t>I would like to thank some people that supported my understanding of the tools and concepts that I used in this project. This includes:</a:t>
            </a:r>
            <a:endParaRPr>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rgbClr val="FCE5CD"/>
                </a:solidFill>
                <a:latin typeface="Times New Roman"/>
                <a:ea typeface="Times New Roman"/>
                <a:cs typeface="Times New Roman"/>
                <a:sym typeface="Times New Roman"/>
              </a:rPr>
              <a:t>Professor Alraee</a:t>
            </a:r>
            <a:endParaRPr>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rgbClr val="FCE5CD"/>
                </a:solidFill>
                <a:latin typeface="Times New Roman"/>
                <a:ea typeface="Times New Roman"/>
                <a:cs typeface="Times New Roman"/>
                <a:sym typeface="Times New Roman"/>
              </a:rPr>
              <a:t>Professor Perine</a:t>
            </a:r>
            <a:endParaRPr>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rgbClr val="FCE5CD"/>
                </a:solidFill>
                <a:latin typeface="Times New Roman"/>
                <a:ea typeface="Times New Roman"/>
                <a:cs typeface="Times New Roman"/>
                <a:sym typeface="Times New Roman"/>
              </a:rPr>
              <a:t>Professor Park</a:t>
            </a:r>
            <a:endParaRPr>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solidFill>
                  <a:srgbClr val="FCE5CD"/>
                </a:solidFill>
                <a:latin typeface="Times New Roman"/>
                <a:ea typeface="Times New Roman"/>
                <a:cs typeface="Times New Roman"/>
                <a:sym typeface="Times New Roman"/>
              </a:rPr>
              <a:t>Early College Data Science Cohort</a:t>
            </a:r>
            <a:endParaRPr>
              <a:solidFill>
                <a:srgbClr val="FCE5CD"/>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a:solidFill>
                  <a:srgbClr val="FCE5CD"/>
                </a:solidFill>
                <a:latin typeface="Times New Roman"/>
                <a:ea typeface="Times New Roman"/>
                <a:cs typeface="Times New Roman"/>
                <a:sym typeface="Times New Roman"/>
              </a:rPr>
              <a:t>Data 205 Classmates</a:t>
            </a:r>
            <a:endParaRPr>
              <a:solidFill>
                <a:srgbClr val="FCE5CD"/>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290BF"/>
        </a:solidFill>
      </p:bgPr>
    </p:bg>
    <p:spTree>
      <p:nvGrpSpPr>
        <p:cNvPr id="145" name="Shape 145"/>
        <p:cNvGrpSpPr/>
        <p:nvPr/>
      </p:nvGrpSpPr>
      <p:grpSpPr>
        <a:xfrm>
          <a:off x="0" y="0"/>
          <a:ext cx="0" cy="0"/>
          <a:chOff x="0" y="0"/>
          <a:chExt cx="0" cy="0"/>
        </a:xfrm>
      </p:grpSpPr>
      <p:sp>
        <p:nvSpPr>
          <p:cNvPr id="146" name="Google Shape;146;p26"/>
          <p:cNvSpPr txBox="1"/>
          <p:nvPr>
            <p:ph type="title"/>
          </p:nvPr>
        </p:nvSpPr>
        <p:spPr>
          <a:xfrm>
            <a:off x="1285050" y="16773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0000">
                <a:solidFill>
                  <a:srgbClr val="FCE5CD"/>
                </a:solidFill>
                <a:latin typeface="Times New Roman"/>
                <a:ea typeface="Times New Roman"/>
                <a:cs typeface="Times New Roman"/>
                <a:sym typeface="Times New Roman"/>
              </a:rPr>
              <a:t>Thank You!</a:t>
            </a:r>
            <a:endParaRPr sz="10000">
              <a:solidFill>
                <a:srgbClr val="FCE5CD"/>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